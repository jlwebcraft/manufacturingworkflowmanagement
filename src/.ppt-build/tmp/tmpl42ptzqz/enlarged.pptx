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7d24a05bf3a428e" Type="http://schemas.openxmlformats.org/officeDocument/2006/relationships/extended-properties" Target="docProps/app.xml"/><Relationship Id="Rc1750419ae684f54" Type="http://schemas.openxmlformats.org/package/2006/relationships/metadata/core-properties" Target="docProps/core.xml"/><Relationship Id="Rc6bcf0de967f4a6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c45e98d90746dd"/>
  </p:sldMasterIdLst>
  <p:notesMasterIdLst>
    <p:notesMasterId xmlns:r="http://schemas.openxmlformats.org/officeDocument/2006/relationships" r:id="Rf26cd6fac70945ed"/>
  </p:notesMasterIdLst>
  <p:sldIdLst>
    <p:sldId xmlns:r="http://schemas.openxmlformats.org/officeDocument/2006/relationships" id="256" r:id="R8ef496939dda479d"/>
    <p:sldId xmlns:r="http://schemas.openxmlformats.org/officeDocument/2006/relationships" id="257" r:id="Re3c274571b894a4c"/>
    <p:sldId xmlns:r="http://schemas.openxmlformats.org/officeDocument/2006/relationships" id="258" r:id="Rfda4092b66544c24"/>
    <p:sldId xmlns:r="http://schemas.openxmlformats.org/officeDocument/2006/relationships" id="259" r:id="R35eb831902bf45c8"/>
    <p:sldId xmlns:r="http://schemas.openxmlformats.org/officeDocument/2006/relationships" id="260" r:id="Rf2ccbc1693f34d9e"/>
    <p:sldId xmlns:r="http://schemas.openxmlformats.org/officeDocument/2006/relationships" id="261" r:id="R9102a6d9500c430f"/>
    <p:sldId xmlns:r="http://schemas.openxmlformats.org/officeDocument/2006/relationships" id="262" r:id="Re98d1cfa185e4d7b"/>
    <p:sldId xmlns:r="http://schemas.openxmlformats.org/officeDocument/2006/relationships" id="263" r:id="R9aa92092a6cd4a70"/>
    <p:sldId xmlns:r="http://schemas.openxmlformats.org/officeDocument/2006/relationships" id="264" r:id="Rff3461f6d2214e19"/>
    <p:sldId xmlns:r="http://schemas.openxmlformats.org/officeDocument/2006/relationships" id="265" r:id="Rd2cbf273b2554b3d"/>
    <p:sldId xmlns:r="http://schemas.openxmlformats.org/officeDocument/2006/relationships" id="266" r:id="R442a188d741d41fc"/>
    <p:sldId xmlns:r="http://schemas.openxmlformats.org/officeDocument/2006/relationships" id="267" r:id="R69d73bef73c84c04"/>
    <p:sldId xmlns:r="http://schemas.openxmlformats.org/officeDocument/2006/relationships" id="268" r:id="R7b1b5dff5c174207"/>
    <p:sldId xmlns:r="http://schemas.openxmlformats.org/officeDocument/2006/relationships" id="269" r:id="R9c768dda86d74133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69c80eb7dc4aef" Type="http://schemas.openxmlformats.org/officeDocument/2006/relationships/tableStyles" Target="tableStyles.xml"/><Relationship Id="R2d57ed5238b54fcb" Type="http://schemas.openxmlformats.org/officeDocument/2006/relationships/presProps" Target="presProps.xml"/><Relationship Id="R35eb831902bf45c8" Type="http://schemas.openxmlformats.org/officeDocument/2006/relationships/slide" Target="slides/slide4.xml"/><Relationship Id="R442a188d741d41fc" Type="http://schemas.openxmlformats.org/officeDocument/2006/relationships/slide" Target="slides/slide11.xml"/><Relationship Id="R69d73bef73c84c04" Type="http://schemas.openxmlformats.org/officeDocument/2006/relationships/slide" Target="slides/slide12.xml"/><Relationship Id="R7b1b5dff5c174207" Type="http://schemas.openxmlformats.org/officeDocument/2006/relationships/slide" Target="slides/slide13.xml"/><Relationship Id="R8ef496939dda479d" Type="http://schemas.openxmlformats.org/officeDocument/2006/relationships/slide" Target="slides/slide1.xml"/><Relationship Id="R9102a6d9500c430f" Type="http://schemas.openxmlformats.org/officeDocument/2006/relationships/slide" Target="slides/slide6.xml"/><Relationship Id="R93f3290af2f04b9a" Type="http://schemas.openxmlformats.org/officeDocument/2006/relationships/theme" Target="theme/theme1.xml"/><Relationship Id="R9aa92092a6cd4a70" Type="http://schemas.openxmlformats.org/officeDocument/2006/relationships/slide" Target="slides/slide8.xml"/><Relationship Id="R9c768dda86d74133" Type="http://schemas.openxmlformats.org/officeDocument/2006/relationships/slide" Target="slides/slide14.xml"/><Relationship Id="Rd2cbf273b2554b3d" Type="http://schemas.openxmlformats.org/officeDocument/2006/relationships/slide" Target="slides/slide10.xml"/><Relationship Id="Re3c274571b894a4c" Type="http://schemas.openxmlformats.org/officeDocument/2006/relationships/slide" Target="slides/slide2.xml"/><Relationship Id="Re98d1cfa185e4d7b" Type="http://schemas.openxmlformats.org/officeDocument/2006/relationships/slide" Target="slides/slide7.xml"/><Relationship Id="Recc45e98d90746dd" Type="http://schemas.openxmlformats.org/officeDocument/2006/relationships/slideMaster" Target="slideMasters/slideMaster1.xml"/><Relationship Id="Rf26cd6fac70945ed" Type="http://schemas.openxmlformats.org/officeDocument/2006/relationships/notesMaster" Target="notesMasters/notesMaster1.xml"/><Relationship Id="Rf2ccbc1693f34d9e" Type="http://schemas.openxmlformats.org/officeDocument/2006/relationships/slide" Target="slides/slide5.xml"/><Relationship Id="Rfda4092b66544c24" Type="http://schemas.openxmlformats.org/officeDocument/2006/relationships/slide" Target="slides/slide3.xml"/><Relationship Id="Rff3461f6d2214e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dbac08e243d1486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910a3a2c5e4476e" Type="http://schemas.openxmlformats.org/officeDocument/2006/relationships/slide" Target="../slides/slide1.xml"/><Relationship Id="Rd7faf3a1a98f422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e6b58648c774b68" Type="http://schemas.openxmlformats.org/officeDocument/2006/relationships/slide" Target="../slides/slide2.xml"/><Relationship Id="R9ae40a11b5e743b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36c92d6ce8b4137" Type="http://schemas.openxmlformats.org/officeDocument/2006/relationships/slide" Target="../slides/slide3.xml"/><Relationship Id="Re8021623416340f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efe6ba639dc4665" Type="http://schemas.openxmlformats.org/officeDocument/2006/relationships/slide" Target="../slides/slide4.xml"/><Relationship Id="Rde31ec416ba84ed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ebf254c063d4ac9" Type="http://schemas.openxmlformats.org/officeDocument/2006/relationships/slide" Target="../slides/slide5.xml"/><Relationship Id="R9a5ddbcebbdf423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2d88741a5be47fe" Type="http://schemas.openxmlformats.org/officeDocument/2006/relationships/notesMaster" Target="../notesMasters/notesMaster1.xml"/><Relationship Id="Rdfe46d0c8100490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b310bd74d438424f" Type="http://schemas.openxmlformats.org/officeDocument/2006/relationships/notesMaster" Target="../notesMasters/notesMaster1.xml"/><Relationship Id="Rde06b6c496e44c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36e48176bb3478e" Type="http://schemas.openxmlformats.org/officeDocument/2006/relationships/slide" Target="../slides/slide8.xml"/><Relationship Id="R8ed2e8b6aaa04fa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594b815d6554d7d" Type="http://schemas.openxmlformats.org/officeDocument/2006/relationships/slide" Target="../slides/slide9.xml"/><Relationship Id="Rabdb10cdbd314f8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d0afbc1cfe24267" Type="http://schemas.openxmlformats.org/officeDocument/2006/relationships/notesMaster" Target="../notesMasters/notesMaster1.xml"/><Relationship Id="Rc37ab2a1e55842e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8ddb28e785f4612" Type="http://schemas.openxmlformats.org/officeDocument/2006/relationships/notesMaster" Target="../notesMasters/notesMaster1.xml"/><Relationship Id="Rbcc79592827e407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585cc39168d4fb4" Type="http://schemas.openxmlformats.org/officeDocument/2006/relationships/notesMaster" Target="../notesMasters/notesMaster1.xml"/><Relationship Id="R95470d17294d4d09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10c9acc44574446" Type="http://schemas.openxmlformats.org/officeDocument/2006/relationships/slide" Target="../slides/slide13.xml"/><Relationship Id="R6054b601dcce421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71b3a46e2c9b4340" Type="http://schemas.openxmlformats.org/officeDocument/2006/relationships/slide" Target="../slides/slide14.xml"/><Relationship Id="R94b0a1df99704be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app/Main.java</a:t>
            </a:r>
          </a:p>
          <a:p xmlns:a="http://schemas.openxmlformats.org/drawingml/2006/main">
            <a:r>
              <a:t>- menu/MainMenu.java</a:t>
            </a:r>
          </a:p>
          <a:p xmlns:a="http://schemas.openxmlformats.org/drawingml/2006/main">
            <a:r>
              <a:t>- database/DatabaseInitializer.java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Project workflow implemented through menu and manager classes.</a:t>
            </a:r>
          </a:p>
          <a:p xmlns:a="http://schemas.openxmlformats.org/drawingml/2006/main">
            <a:r>
              <a:t>- workflow_history table records stage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QualityInspectionManager.java</a:t>
            </a:r>
          </a:p>
          <a:p xmlns:a="http://schemas.openxmlformats.org/drawingml/2006/main">
            <a:r>
              <a:t>- ProductionOrderManager.java</a:t>
            </a:r>
          </a:p>
          <a:p xmlns:a="http://schemas.openxmlformats.org/drawingml/2006/main">
            <a:r>
              <a:t>- DeliveryManager.java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menu package classes</a:t>
            </a:r>
          </a:p>
          <a:p xmlns:a="http://schemas.openxmlformats.org/drawingml/2006/main">
            <a:r>
              <a:t>- manager package classes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database/DatabaseInitializer.java creates the schema.</a:t>
            </a:r>
          </a:p>
          <a:p xmlns:a="http://schemas.openxmlformats.org/drawingml/2006/main">
            <a:r>
              <a:t>- database/DatabaseSeeder.java adds PC manufacturing seed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database/DatabaseInitializer.java</a:t>
            </a:r>
          </a:p>
          <a:p xmlns:a="http://schemas.openxmlformats.org/drawingml/2006/main">
            <a:r>
              <a:t>- manager/ReportManager.java</a:t>
            </a:r>
          </a:p>
          <a:p xmlns:a="http://schemas.openxmlformats.org/drawingml/2006/main">
            <a:r>
              <a:t>- menu/WorkflowConceptMenu.java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manager/ProductionOrderManager.java</a:t>
            </a:r>
          </a:p>
          <a:p xmlns:a="http://schemas.openxmlformats.org/drawingml/2006/main">
            <a:r>
              <a:t>- manager/QualityInspectionManager.java</a:t>
            </a:r>
          </a:p>
          <a:p xmlns:a="http://schemas.openxmlformats.org/drawingml/2006/main">
            <a:r>
              <a:t>- manager/DeliveryManager.java</a:t>
            </a:r>
          </a:p>
          <a:p xmlns:a="http://schemas.openxmlformats.org/drawingml/2006/main">
            <a:r>
              <a:t>- database/DatabaseInitializer.java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menu/WorkflowConceptMenu.java</a:t>
            </a:r>
          </a:p>
          <a:p xmlns:a="http://schemas.openxmlformats.org/drawingml/2006/main">
            <a:r>
              <a:t>- manager package</a:t>
            </a:r>
          </a:p>
          <a:p xmlns:a="http://schemas.openxmlformats.org/drawingml/2006/main">
            <a:r>
              <a:t>- utils/ConsoleFormatter.java</a:t>
            </a:r>
          </a:p>
          <a:p xmlns:a="http://schemas.openxmlformats.org/drawingml/2006/main">
            <a:r>
              <a:t>- exceptions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model package</a:t>
            </a:r>
          </a:p>
          <a:p xmlns:a="http://schemas.openxmlformats.org/drawingml/2006/main">
            <a:r>
              <a:t>- manager package</a:t>
            </a:r>
          </a:p>
          <a:p xmlns:a="http://schemas.openxmlformats.org/drawingml/2006/main">
            <a:r>
              <a:t>- menu package</a:t>
            </a:r>
          </a:p>
          <a:p xmlns:a="http://schemas.openxmlformats.org/drawingml/2006/main">
            <a:r>
              <a:t>- database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DSA/LinkedList.java</a:t>
            </a:r>
          </a:p>
          <a:p xmlns:a="http://schemas.openxmlformats.org/drawingml/2006/main">
            <a:r>
              <a:t>- DSA/Stack.java</a:t>
            </a:r>
          </a:p>
          <a:p xmlns:a="http://schemas.openxmlformats.org/drawingml/2006/main">
            <a:r>
              <a:t>- DSA/Queue.java</a:t>
            </a:r>
          </a:p>
          <a:p xmlns:a="http://schemas.openxmlformats.org/drawingml/2006/main">
            <a:r>
              <a:t>- DSA/PriorityQueue.java</a:t>
            </a:r>
          </a:p>
          <a:p xmlns:a="http://schemas.openxmlformats.org/drawingml/2006/main">
            <a:r>
              <a:t>- DSA/HashMap.java</a:t>
            </a:r>
          </a:p>
          <a:p xmlns:a="http://schemas.openxmlformats.org/drawingml/2006/main">
            <a:r>
              <a:t>- DSA/HashSet.java</a:t>
            </a:r>
          </a:p>
          <a:p xmlns:a="http://schemas.openxmlformats.org/drawingml/2006/main">
            <a:r>
              <a:t>- DSA/Vector.java</a:t>
            </a:r>
          </a:p>
          <a:p xmlns:a="http://schemas.openxmlformats.org/drawingml/2006/main">
            <a:r>
              <a:t>- DSA/BinarySearchTree.java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menu/ProductionQueueMenu.java</a:t>
            </a:r>
          </a:p>
          <a:p xmlns:a="http://schemas.openxmlformats.org/drawingml/2006/main">
            <a:r>
              <a:t>- manager/ProductionQueueManager.java</a:t>
            </a:r>
          </a:p>
          <a:p xmlns:a="http://schemas.openxmlformats.org/drawingml/2006/main">
            <a:r>
              <a:t>- DSA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manager/QualityInspectionManager.java</a:t>
            </a:r>
          </a:p>
          <a:p xmlns:a="http://schemas.openxmlformats.org/drawingml/2006/main">
            <a:r>
              <a:t>- quality_inspections table</a:t>
            </a:r>
          </a:p>
          <a:p xmlns:a="http://schemas.openxmlformats.org/drawingml/2006/main">
            <a:r>
              <a:t>- finished_goods_inventory table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manager/DeliveryManager.java</a:t>
            </a:r>
          </a:p>
          <a:p xmlns:a="http://schemas.openxmlformats.org/drawingml/2006/main">
            <a:r>
              <a:t>- menu/DeliveryMenu.java</a:t>
            </a:r>
          </a:p>
          <a:p xmlns:a="http://schemas.openxmlformats.org/drawingml/2006/main">
            <a:r>
              <a:t>- manager/ReportManager.java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Current project modules and final workflow requested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226c57d79b14a4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df610490f5f49aa" Type="http://schemas.openxmlformats.org/officeDocument/2006/relationships/slideLayout" Target="../slideLayouts/slideLayout1.xml"/><Relationship Id="R4f17333e95b34b5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610490f5f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20d54a450cb4c84" Type="http://schemas.openxmlformats.org/officeDocument/2006/relationships/slideLayout" Target="../slideLayouts/slideLayout1.xml"/><Relationship Id="R8639955e3fc5453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41cf3ff62be4e89" Type="http://schemas.openxmlformats.org/officeDocument/2006/relationships/slideLayout" Target="../slideLayouts/slideLayout1.xml"/><Relationship Id="R9c1a7abf51004e6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22c98a2b0de41a7" Type="http://schemas.openxmlformats.org/officeDocument/2006/relationships/notesSlide" Target="../notesSlides/notesSlide3.xml"/><Relationship Id="Rdaa4ada501ff4ee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fc7efb0bf404085" Type="http://schemas.openxmlformats.org/officeDocument/2006/relationships/slideLayout" Target="../slideLayouts/slideLayout1.xml"/><Relationship Id="Rebe90222f727495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92e497778d84709" Type="http://schemas.openxmlformats.org/officeDocument/2006/relationships/slideLayout" Target="../slideLayouts/slideLayout1.xml"/><Relationship Id="Rf59db1401038489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7f0e637eced4522" Type="http://schemas.openxmlformats.org/officeDocument/2006/relationships/notesSlide" Target="../notesSlides/notesSlide6.xml"/><Relationship Id="Rcb815b8b1dd745d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7d7081955f4e6a" Type="http://schemas.openxmlformats.org/officeDocument/2006/relationships/slideLayout" Target="../slideLayouts/slideLayout1.xml"/><Relationship Id="Reff7e2554b22436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b53f1aec74c4198" Type="http://schemas.openxmlformats.org/officeDocument/2006/relationships/slideLayout" Target="../slideLayouts/slideLayout1.xml"/><Relationship Id="Rf27d969380364c6f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cefd9e50ddc4d66" Type="http://schemas.openxmlformats.org/officeDocument/2006/relationships/notesSlide" Target="../notesSlides/notesSlide9.xml"/><Relationship Id="R5fae9419a246449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6537174c5bb4a34" Type="http://schemas.openxmlformats.org/officeDocument/2006/relationships/notesSlide" Target="../notesSlides/notesSlide10.xml"/><Relationship Id="Red941df6e64e4bc8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958f88f851e4884" Type="http://schemas.openxmlformats.org/officeDocument/2006/relationships/notesSlide" Target="../notesSlides/notesSlide11.xml"/><Relationship Id="Rda15e3a7b4f9442c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93091860620d414b" Type="http://schemas.openxmlformats.org/officeDocument/2006/relationships/notesSlide" Target="../notesSlides/notesSlide12.xml"/><Relationship Id="Re1ee17124228428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702502d3c74f4095" Type="http://schemas.openxmlformats.org/officeDocument/2006/relationships/notesSlide" Target="../notesSlides/notesSlide13.xml"/><Relationship Id="Rb1d163d3345c4dd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a19442c3ac24900" Type="http://schemas.openxmlformats.org/officeDocument/2006/relationships/notesSlide" Target="../notesSlides/notesSlide14.xml"/><Relationship Id="Re5580e7689a74ae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F4945-0B2E-47AA-95DD-47DD2AB4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Manufacturing Workflow</a:t>
            </a:r>
          </a:p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6BD58-B023-4856-9643-2BA3C81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194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PC manufacturing project demonstrating Java, DBMS and data-structure concepts through one connected production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8975F-B1A8-4190-87A1-46FEA07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5F249-376C-4A2A-ACF2-D6AB5E36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859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3202D-1DCE-4D10-8B5E-A0C4F6CA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07C1-F07F-4DF8-96D5-C16D441A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EC267-30A9-4F55-9CFB-AFE7DD9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8DD7D-7EE3-4BD3-B788-628615B2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8625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8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Delivery</a:t>
            </a:r>
          </a:p>
        </p:txBody>
      </p: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620250" y="2152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none" w="med" len="med"/>
          </a:ln>
        </p:spPr>
      </p:cxn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639425" y="2419350"/>
            <a:ext cx="952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45309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620250" y="3352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803D"/>
            </a:solidFill>
            <a:prstDash val="solid"/>
            <a:headEnd type="none" w="med" len="med"/>
          </a:ln>
        </p:spPr>
      </p:cxnSp>
      <p:cxnSp>
        <p:nvCxnSpPr>
          <p:cNvPr id="27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9620250" y="3352800"/>
            <a:ext cx="4000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D28D9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45529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F766E"/>
            </a:solidFill>
            <a:prstDash val="solid"/>
            <a:head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E1E7A-04C8-44DA-8A54-E0B375D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38800"/>
            <a:ext cx="7810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Core idea: every production step leaves a database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B07E7-DE74-4179-AB93-F221F2C6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</a:t>
            </a:r>
          </a:p>
        </p:txBody>
      </p:sp>
    </p:spTree>
    <p:extLst>
      <p:ext uri="{BB962C8B-B14F-4D97-AF65-F5344CB8AC3E}">
        <p14:creationId xmlns:p14="http://schemas.microsoft.com/office/powerpoint/2010/main" val="1636383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190C6-9BE8-4EAE-A265-4C22822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C6807-FA6F-4FED-A425-5BF8F2D9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Real-World Problem 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BDA95-FD68-48CF-A8C7-A53F3B4B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CFD25-9D61-4E80-91C0-8A0E16C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14625"/>
            <a:ext cx="3143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Manual tracking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5A104-E254-4B4E-804F-66599010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195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Raw material stock can be wrong, late, or duplicated.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0797-9C86-477F-9413-FCE502CB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3143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Production delays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5D4F9-5C84-40D6-AC13-1A601DC0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195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Orders wait when BOM, inventory, workers, or machines are unclear.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8AEA9-E917-449F-B289-95327226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3143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Poor traceability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C58A6-2C4B-4FB9-9B84-1E7B9843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Failed inspection and delivery status are hard to follow without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40B90-32F5-4360-BAA9-12111FC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05450"/>
            <a:ext cx="10058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project converts scattered manufacturing work into one controlled workflow: plan, source, produce, inspect, store and deliver.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B0370-EE64-4FD5-A1BE-FCF89D9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2</a:t>
            </a:r>
          </a:p>
        </p:txBody>
      </p:sp>
    </p:spTree>
    <p:extLst>
      <p:ext uri="{BB962C8B-B14F-4D97-AF65-F5344CB8AC3E}">
        <p14:creationId xmlns:p14="http://schemas.microsoft.com/office/powerpoint/2010/main" val="1009475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6" name="Rectangle 5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Rectangle 5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Rectangle 5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Rectangle 5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2C43B-3EAC-4137-BE18-BEF1CF59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EA3A2-4710-458F-9C5C-6246712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End-to-End Manufacturing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3B1CA-A071-4B73-804A-24BEB99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D543C-6EC4-4D78-AE8A-D7A19F3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7482C-73A9-4A19-BE8A-967300BE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Product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A1F1D-C6E5-4317-839D-A1EA014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B594-68E0-42DE-B023-CFE42D2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Buy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Department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E643B-B322-42BB-88B6-9CFB5B53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Raw Material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BE2E9-A422-4E57-9F31-2DC3B0E3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57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Production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1C430-C215-420B-812C-821B102D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62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Machine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EC23E-070A-4575-8A05-16CB2A43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Manufacturing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92C65-F54A-43D3-B1BD-3E3F9C3A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Quality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Inspection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F4C73-FC80-4AD4-9550-6B721B7E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62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Finished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Goods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3530B-6C6B-4A4A-B55D-A1FADF2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1430">
            <a:solidFill>
              <a:srgbClr val="BE18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Delivery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3162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3162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81750" y="3162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91500" y="3162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01250" y="3162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1134725" y="346710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8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0001250" y="5067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9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191500" y="5067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50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6381750" y="5067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51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4572000" y="5067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191500" y="3162300"/>
            <a:ext cx="2266950" cy="1905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B91C1C"/>
            </a:solidFill>
            <a:prstDash val="dash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92622-B5EA-41E5-9A07-CE169E1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If inspection fails, a replacement/rework production order is queued again.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79F7C-8385-4662-9318-2EEB632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3</a:t>
            </a:r>
          </a:p>
        </p:txBody>
      </p:sp>
    </p:spTree>
    <p:extLst>
      <p:ext uri="{BB962C8B-B14F-4D97-AF65-F5344CB8AC3E}">
        <p14:creationId xmlns:p14="http://schemas.microsoft.com/office/powerpoint/2010/main" val="1050575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5" name="Rectangle 2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BD878-2928-4D79-BA8F-2E19CD2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1149F-B5F3-4955-A1FC-F2CF9231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Main Modules in the Console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2075D-C98A-4986-9E94-6133793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A73F8-B165-42FA-A9FF-F1450C97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User and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CB1F2-DBD0-48B6-BAB4-A09D9388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Login users, workers, creators and access responsibility.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9F4F1-EEDC-4CC7-A0CC-CF24173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Product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D4A29-4C83-4919-82A5-653E1CB3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Categories, products and BOM material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48EA-F5BB-45BA-80D0-B8C022A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Buy Department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3EF50-73B6-4D66-9977-AD87543A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Single purpose: place raw material purchase entries.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AB6DF-70B4-4844-B399-1906E5A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4E5D1-5DAD-46EC-82EB-C48C516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52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Raw material stock, finished goods and stock movements.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3F4A2-FA7E-4219-A360-FC1BA53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Machines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13DFF-BB2B-43BF-ADF1-E1BBB31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62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Availability, status and production resource allocation.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E64DA-570B-434A-ADDE-3860B2D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95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C1C1C-3B11-475B-8248-2CE4E51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62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Order creation, queue priority, progress and material usage.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F917F-E07B-4187-92E3-D3CA2F6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95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4095E-223A-476F-8872-97831F1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62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Inspection result, defective quantity and rework 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070F4-4776-417B-8B31-DBDBC0CC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95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Delivery and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D2C4A-8D07-473F-BEE4-342A6E0C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62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Ship approved goods and generate summary reports.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34403-130B-46B6-9DE3-C5CD9B49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4</a:t>
            </a:r>
          </a:p>
        </p:txBody>
      </p:sp>
    </p:spTree>
    <p:extLst>
      <p:ext uri="{BB962C8B-B14F-4D97-AF65-F5344CB8AC3E}">
        <p14:creationId xmlns:p14="http://schemas.microsoft.com/office/powerpoint/2010/main" val="867915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A124D-9C90-4442-9803-C639FD99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85E8-3F53-4D3A-A564-99C36C8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Database Schema Backbone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9F940-87BF-482D-B3CB-B2AD59B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F7EFA-8EAA-450B-B84B-FC0B6F95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30670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Master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79B2-B7BA-4486-9C8E-F89ED38B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7058C-730F-44E9-875D-D473B5DA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D820-242E-42C6-A68F-BC8BABB2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product_categories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6B8F9-C59C-493B-8556-1493EBC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944EB-5C1E-41BA-8057-DE7B65BD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raw_materials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E7F79-520F-4283-AB82-40420FC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product_materials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86B26-F094-4E99-9F95-4423479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30670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691B5-AF80-4B44-B93A-6D1D5C25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C7DB4-7C7D-4202-A663-9EB59353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243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finished_goods_inventory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C78B9-1791-48B4-BBB9-044EA3E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material_transactions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DA8B8-441F-42A1-9263-2348627C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production_orders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EB9A8-DB44-4894-A7E3-705F112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machines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D1960-96D0-4BF6-A3BA-ED6F787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769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worker_assignments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2D4D6-CBC8-4810-9B44-8202821E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30670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Control and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DFE73-B5C5-48E4-ACCE-D5B650D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production_material_usage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33BF9-16D5-484A-B5D4-C8632D9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workflow_history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4BDDF-D638-46F9-A23F-612873D0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quality_inspections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D33C0-015B-4675-988C-C8C712FA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deliveries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ACCA0-26EC-437F-BAF5-2747C9B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81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16 normalized tables support the workflow from product planning to delivery.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54D29-4FAD-452E-8BC0-DBBDA56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5</a:t>
            </a:r>
          </a:p>
        </p:txBody>
      </p:sp>
    </p:spTree>
    <p:extLst>
      <p:ext uri="{BB962C8B-B14F-4D97-AF65-F5344CB8AC3E}">
        <p14:creationId xmlns:p14="http://schemas.microsoft.com/office/powerpoint/2010/main" val="1731024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" name="Rectangle 1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D1122-0FF0-4689-B5C6-8FC3339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49190-C113-42FD-B33E-0D77C04F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DBMS Concepts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AB02-80AC-4358-B608-21D3291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99369-41A6-4150-9117-133B3893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4762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Constraints and relationships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EC72B-8F80-4919-8102-CCCBAC21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4343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Primary keys for every entity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Foreign keys between products, BOM, orders, workers and inspections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UNIQUE constraints for usernames, category names, material names and order numbers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NOT NULL fields for required business data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CHECK rules for stock levels, quantities, status and prices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550B6-F759-4431-9942-13715F15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4762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Query 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6C333-350B-49D5-8EE9-E3D20B94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09950"/>
            <a:ext cx="4343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CRUD in every major module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JOIN queries for readable reports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GROUP BY and HAVING for summary reports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Subqueries for filtered operational views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Database metadata and result-set metadata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EA3C0-AAB8-404B-9FAC-EFCB787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6</a:t>
            </a:r>
          </a:p>
        </p:txBody>
      </p:sp>
    </p:spTree>
    <p:extLst>
      <p:ext uri="{BB962C8B-B14F-4D97-AF65-F5344CB8AC3E}">
        <p14:creationId xmlns:p14="http://schemas.microsoft.com/office/powerpoint/2010/main" val="1259129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8930B-FE1D-4854-BB0B-D384281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E6A55-A460-4073-9141-901468F6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Transactions, Procedures and ACID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FE370-435A-4BCA-B107-B724C91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DF85E-4DB2-495C-B379-A894074F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717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SAVEPOINT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ABC9-AC55-43C4-86D9-22A6D62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Protects multi-step operations before stock is consumed.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BD695-CBA5-48DE-A7BC-F0D0122E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32F45-A242-49F7-A6BD-1B97F29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Finalizes successful order, inspection or delivery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381E5-DF59-4D48-814A-A741476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863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ROLLBACK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EECC-CF80-455F-935B-2975356F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Restores database state when a workflow step fails.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5AB4-D806-4CC1-BA39-522CF5F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6AF4B-7044-49BA-941D-5BA6712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Automatically records audit-style workflow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1C472-6421-43A5-8F4D-87C1AC00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290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Stored procedure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18592-BC1B-417A-96AF-5DA3AC0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CallableStatement runs database-side workflow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A02DE-37E2-4E0E-9522-A5070603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863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Stored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D5F01-91D7-430A-BC7F-B823C2C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Returns calculated values used by reports or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2187E-001B-42FF-93F2-CBA5F46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438900"/>
            <a:ext cx="10172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ACID in this project: order, material consumption, inspection and delivery updates are treated as one reliable unit of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0BD3E-57C3-47C2-AF3B-403B275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7</a:t>
            </a:r>
          </a:p>
        </p:txBody>
      </p:sp>
    </p:spTree>
    <p:extLst>
      <p:ext uri="{BB962C8B-B14F-4D97-AF65-F5344CB8AC3E}">
        <p14:creationId xmlns:p14="http://schemas.microsoft.com/office/powerpoint/2010/main" val="1440264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99170-D805-4D0D-A39A-109D50C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3B54F-A22F-47ED-A74E-0E637DB9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Java Concepts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F45DC-3417-4518-B59C-79B4D276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735F2-5FF5-41AD-A558-81D4975D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Abstract 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816E6-F52C-4F18-82F9-B3CCFA07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Shared workflow/report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873B1-ACF0-4FD2-AC76-2CFBBC5F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336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227B-2255-4A65-9F89-5D8950B8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003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Common service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1F2C6-6171-4B17-BC9D-6D79BF9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Lambda + Predicate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03335-9445-4331-B11C-77CFD152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194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Filtering active records and validations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1C8EE-CF61-48AC-BB34-CCDBB44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Custom 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2E88-55EC-4D8D-B6EB-6989951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194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Readable business-rule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EFB2E-4FA3-4972-A5F3-6451465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HashMap / HashSet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2B883-71BA-40D1-85BA-CCCB159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Fast lookup and duplicate prevention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703C3-FAA9-4F76-A72E-48534E85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719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E3735-9823-4D9F-824D-5542ECC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386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Legacy synchronized collection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92CE7-5CFD-479F-B9AB-E293F7C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File 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49A80-448A-4F27-8063-05C2DB47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Report export with readers and writers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9C37D-2645-49DB-AD5E-A034D71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9911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DateTimeFormatter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0B5CC-E476-4549-8C92-EC97929D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577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Human-readable timestamps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9CE3F-3A36-4904-96B7-76E464B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Synchronization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56683-2163-408A-A3D6-9DB2EB4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769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Protects shared workflow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68CB1-3515-4C75-8156-DC7A681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8102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CallableStatement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90D92-1D82-461A-951E-5C1A4B8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8769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Calls stored procedures/functions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C5311-1003-47EA-8310-8587FEC4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8</a:t>
            </a:r>
          </a:p>
        </p:txBody>
      </p:sp>
    </p:spTree>
    <p:extLst>
      <p:ext uri="{BB962C8B-B14F-4D97-AF65-F5344CB8AC3E}">
        <p14:creationId xmlns:p14="http://schemas.microsoft.com/office/powerpoint/2010/main" val="675132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865FE-54B3-4942-AADE-10136E8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6931A-F2F6-43C2-8B69-252EDBE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Object-Oriented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875D-D330-4F82-9D61-2E2FDF2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DCAD0-FEB9-4A68-9EFB-3EE1859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622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4BB0A-E08B-4DFE-BAC1-7DB6B6B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479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Product, User, RawMaterial, Inventory and ProductionOrder store entity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452A7-5371-45CD-A670-0C634901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385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99D86-4407-4DBE-A351-712F492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242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Business rules: create orders, consume stock, inspect quality and deliver goods.</a:t>
            </a:r>
          </a:p>
        </p:txBody>
      </p:sp>
      <p:cxnSp>
        <p:nvCxnSpPr>
          <p:cNvPr id="24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00350" y="32766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BD5E1"/>
            </a:solidFill>
            <a:prstDash val="solid"/>
            <a:headEnd type="non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E9261-79D9-407A-8F27-6042D1E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D340F-C0DC-4B95-A463-654FCEB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005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Console interaction layer that calls manager methods.</a:t>
            </a:r>
          </a:p>
        </p:txBody>
      </p:sp>
      <p:cxnSp>
        <p:nvCxnSpPr>
          <p:cNvPr id="27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800350" y="41529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BD5E1"/>
            </a:solidFill>
            <a:prstDash val="solid"/>
            <a:head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183A1-2869-4D09-B928-32E6A5A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911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A8265-9BAE-4987-ABDC-284D4FBF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Connection, initializer, seed data and SQL workflow objects.</a:t>
            </a:r>
          </a:p>
        </p:txBody>
      </p:sp>
      <p:cxnSp>
        <p:nvCxnSpPr>
          <p:cNvPr id="30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00350" y="50292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BD5E1"/>
            </a:solidFill>
            <a:prstDash val="solid"/>
            <a:head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4B1DC-F838-4E79-BFD1-EB1B1EA8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4198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Separation of concerns makes the project easier to test, extend and explain.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FC8DD-9AEE-41DC-9FBA-A85F221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9</a:t>
            </a:r>
          </a:p>
        </p:txBody>
      </p:sp>
    </p:spTree>
    <p:extLst>
      <p:ext uri="{BB962C8B-B14F-4D97-AF65-F5344CB8AC3E}">
        <p14:creationId xmlns:p14="http://schemas.microsoft.com/office/powerpoint/2010/main" val="1033957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A74EE-9AAB-4D1D-B65B-C5C8504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D45C9-55D6-43D5-8086-808C2438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Data Structures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5F215-8696-4E38-B458-A76DF71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E1963-8BFE-48D4-B095-21357564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LinkedList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CB47C-B2D6-48C5-A770-DE7A57A2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62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Production history / waiting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583C8-ECA6-4040-92F7-5B221F0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Insert, delete first, delete last, delete specific 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EFCA9-09DF-4DFF-8D07-7EDDF4F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9D3C4-BCB5-46B5-87BD-AA18412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575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Workflow undo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DF989-52C8-4DEB-94D1-5B276BA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575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Push, pop, peek, display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87DDB-FE6F-46F7-8E9B-FF893B1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A2C07-46D8-49CD-BD13-5C6C8DA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52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FIFO production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7B7BB-B533-4550-B18D-6C68A5D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52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Enqueue, dequeue, 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79E7B-10D1-47EC-BDD7-19410BA2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PriorityQueue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08559-849E-4D8C-BB5B-18AEDA7B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48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Urgent production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00B04-5CC9-4566-A9C4-5FDF71D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Add by priority, remove highest priority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F2FFA-549C-4EFF-802E-74E62FF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HashMap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FAB71-A207-4B36-8AFD-81AB759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43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Fast product or machine lookup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AC181-4F21-411C-BD8D-B2D1906B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Put, get, remove,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148AF-E60B-4FC5-9F9F-1FEEDC47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HashSet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4FCDC-4476-4902-9739-05D46BC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38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Avoid duplicate IDs/names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09C91-1959-4C08-BA9E-3639A9FE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387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Add, remove, contains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61BC6-3DB5-4AAC-A5D6-4A96CD0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21121-CAF9-4291-B37B-83049738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3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Synchronized dynamic list example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56942-CEBE-4D0B-BB03-C74B81BE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340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Add, get, update, delete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0E07B-9E09-497E-9373-3ECF60CA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033C4-AF7F-48CA-9C10-B5226F8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029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Sorted searchable catalog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8506B-30BE-4A78-9585-05FA920A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29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Insert, search, inorder traversal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E3114-2ED8-4DA5-8278-CA6E2F4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10</a:t>
            </a:r>
          </a:p>
        </p:txBody>
      </p:sp>
    </p:spTree>
    <p:extLst>
      <p:ext uri="{BB962C8B-B14F-4D97-AF65-F5344CB8AC3E}">
        <p14:creationId xmlns:p14="http://schemas.microsoft.com/office/powerpoint/2010/main" val="84513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7B1C7-FB41-44FC-9912-F6ACFA7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8292-042E-4755-BBFD-1B1B0C51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DSA Inside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B481-8C3D-4C1F-B740-20925D7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4C3E9-835A-4DCA-AE73-6E11D837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PriorityQueue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urgent orders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8548F-7468-447B-9701-7E23E7F4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Queue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normal order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B947-54E9-4697-968E-2A7273C6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Stack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undo last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4C594-E256-4FEE-9E03-5D736EC9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52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LinkedList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workflow history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57600" y="33528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45309"/>
            </a:solidFill>
            <a:prstDash val="solid"/>
            <a:headEnd type="non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00800" y="33528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non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33528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91C1C"/>
            </a:solidFill>
            <a:prstDash val="solid"/>
            <a:headEnd type="non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0F382-1B7F-46D4-AFF7-A78BE9F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76800"/>
            <a:ext cx="9144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Hashing supports fast lookup for products, raw materials and machines. BST gives sorted/searchable catalog behavior for demonstration.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F457F-97EC-4F57-AF37-EBC84F1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11</a:t>
            </a:r>
          </a:p>
        </p:txBody>
      </p:sp>
    </p:spTree>
    <p:extLst>
      <p:ext uri="{BB962C8B-B14F-4D97-AF65-F5344CB8AC3E}">
        <p14:creationId xmlns:p14="http://schemas.microsoft.com/office/powerpoint/2010/main" val="780228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34FCF-C312-4C2F-815F-2BE4C0D4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DA23B-5F94-436E-838E-5CFC4CD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Quality Inspection and Rework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C2237-20F1-4237-9B4E-C3172B4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67152-4279-4D78-A329-EB8490E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809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Manufactured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57272-9F9E-4E20-AC97-80415313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1809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Quality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Inspection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DCB8F-8E44-4E97-A015-391AD6A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1619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Approved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DB737-C403-4B42-9DC7-6755671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1619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Defective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97B84-CBD7-4BD6-BA68-121DBE40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Finished Goods</a:t>
            </a:r>
          </a:p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51637-15BC-43C7-8429-DFCB2D68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195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Replacement</a:t>
            </a:r>
          </a:p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Order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359092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553200" y="2847975"/>
            <a:ext cx="12763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803D"/>
            </a:solidFill>
            <a:prstDash val="solid"/>
            <a:headEnd type="none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48800" y="28479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803D"/>
            </a:solidFill>
            <a:prstDash val="solid"/>
            <a:headEnd type="none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53200" y="3590925"/>
            <a:ext cx="12763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91C1C"/>
            </a:solidFill>
            <a:prstDash val="solid"/>
            <a:headEnd type="none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448800" y="4295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91C1C"/>
            </a:solidFill>
            <a:prstDash val="solid"/>
            <a:headEnd type="none" w="med" len="med"/>
          </a:ln>
        </p:spPr>
      </p:cxnSp>
      <p:cxnSp>
        <p:nvCxnSpPr>
          <p:cNvPr id="32" name=""/>
          <p:cNvCxnSpPr>
            <a:stCxn xmlns:a="http://schemas.openxmlformats.org/drawingml/2006/main" id="9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3714750" y="3590925"/>
            <a:ext cx="6572250" cy="10953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B45309"/>
            </a:solidFill>
            <a:prstDash val="dash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83953-8772-4E70-8FFB-AE48FDB5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340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Business rule: good quantity enters finished goods; defective quantity is tracked and can create a new manufacturing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48F51-2DA1-4C8E-B89E-E3D8F9A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12</a:t>
            </a:r>
          </a:p>
        </p:txBody>
      </p:sp>
    </p:spTree>
    <p:extLst>
      <p:ext uri="{BB962C8B-B14F-4D97-AF65-F5344CB8AC3E}">
        <p14:creationId xmlns:p14="http://schemas.microsoft.com/office/powerpoint/2010/main" val="19497199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BA4B3-BBB7-44A5-8A1D-394DD0C8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4A696-E137-4030-80DE-550D3A8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Delivery and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CE0F-6F77-4B28-9D36-80CF9EA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E17B-A95A-4AC0-9784-DF04A1E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228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1430">
            <a:solidFill>
              <a:srgbClr val="BE18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Deliver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EFC12-24AF-46F6-80E4-24EF512A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76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Select an approved/completed production order, confirm quantity and record customer/location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CD930-7A32-447A-B76F-883EB82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47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Database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B6D68-1879-4177-B75B-942C4E5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Finished goods stock decreases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Delivery record is inserted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Production order becomes DELIVERED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Workflow history receives an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EF451-D996-48CF-8629-7DE6C22A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6DE2F-4222-436E-91BA-0AA9C090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7665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Production, inventory, quality and delivery reports help management review 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8E6F5-44F0-4DD7-9096-250AB99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13</a:t>
            </a:r>
          </a:p>
        </p:txBody>
      </p:sp>
    </p:spTree>
    <p:extLst>
      <p:ext uri="{BB962C8B-B14F-4D97-AF65-F5344CB8AC3E}">
        <p14:creationId xmlns:p14="http://schemas.microsoft.com/office/powerpoint/2010/main" val="267268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7B43F-25D8-48E8-8712-559C5AA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04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5A415-FA23-46B1-8D0D-C90C70F3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Demo Flow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7BB20-0CEF-4C68-8EDE-3E93CE59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9784-AA3E-4AF6-83A7-20DF793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Suggested demo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0A5FC-B68B-413E-B9AE-8E60775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4267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Add category and product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Create BOM with raw materials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Buy missing raw material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Check inventory and create production order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Assign machine and worker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Inspect quality, update finished goods, deliver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5480A-AA76-42D5-9BE9-990D524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Future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1C13B-00BD-42D1-9442-1B15AB0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4267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Customer order module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Barcode based material receiving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Graphical dashboard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Predictive machine maintenance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Stronger password and session controls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Supplier comparison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3A4B0-AA7C-42D4-A56C-7BE3FFD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38900"/>
            <a:ext cx="100584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Conclusion: the project is a practical mini-ERP for PC manufacturing, built around database-backed workflow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4A59A-D0BE-4D8E-91D4-A5EC3C7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8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14</a:t>
            </a:r>
          </a:p>
        </p:txBody>
      </p:sp>
    </p:spTree>
    <p:extLst>
      <p:ext uri="{BB962C8B-B14F-4D97-AF65-F5344CB8AC3E}">
        <p14:creationId xmlns:p14="http://schemas.microsoft.com/office/powerpoint/2010/main" val="1856196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2026-08-12T03:14:49.6530000Z</dcterms:created>
  <dcterms:modified xsi:type="dcterms:W3CDTF">2026-08-12T03:14:49.6530000Z</dcterms:modified>
</coreProperties>
</file>